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0" r:id="rId3"/>
    <p:sldId id="282" r:id="rId4"/>
    <p:sldId id="283" r:id="rId5"/>
    <p:sldId id="284" r:id="rId6"/>
    <p:sldId id="285" r:id="rId7"/>
    <p:sldId id="286" r:id="rId8"/>
    <p:sldId id="287" r:id="rId9"/>
    <p:sldId id="280" r:id="rId10"/>
    <p:sldId id="288" r:id="rId11"/>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arsh JS" initials="AJ" lastIdx="1" clrIdx="0">
    <p:extLst>
      <p:ext uri="{19B8F6BF-5375-455C-9EA6-DF929625EA0E}">
        <p15:presenceInfo xmlns:p15="http://schemas.microsoft.com/office/powerpoint/2012/main" userId="96222d7f51014f3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3" d="100"/>
          <a:sy n="43"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8281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902374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481041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784590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48463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743655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528187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hyperlink" Target="https://www.loom.com/share/6824b66328964543a16dd2ad253b1109"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4F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24387048" cy="13716000"/>
          </a:xfrm>
          <a:prstGeom prst="rect">
            <a:avLst/>
          </a:prstGeom>
        </p:spPr>
      </p:pic>
      <p:sp>
        <p:nvSpPr>
          <p:cNvPr id="3" name="Text 0"/>
          <p:cNvSpPr/>
          <p:nvPr/>
        </p:nvSpPr>
        <p:spPr>
          <a:xfrm>
            <a:off x="12193524" y="9499849"/>
            <a:ext cx="11257840" cy="1312333"/>
          </a:xfrm>
          <a:prstGeom prst="rect">
            <a:avLst/>
          </a:prstGeom>
          <a:noFill/>
          <a:ln/>
        </p:spPr>
        <p:txBody>
          <a:bodyPr wrap="square" lIns="0" tIns="0" rIns="0" bIns="0" rtlCol="0" anchor="t"/>
          <a:lstStyle/>
          <a:p>
            <a:r>
              <a:rPr lang="en-US" sz="4400" b="1" dirty="0">
                <a:solidFill>
                  <a:schemeClr val="accent1"/>
                </a:solidFill>
                <a:latin typeface="Times New Roman" panose="02020603050405020304" pitchFamily="18" charset="0"/>
                <a:cs typeface="Times New Roman" panose="02020603050405020304" pitchFamily="18" charset="0"/>
              </a:rPr>
              <a:t>Execution of Summary and Recommendations</a:t>
            </a:r>
          </a:p>
        </p:txBody>
      </p:sp>
      <p:sp>
        <p:nvSpPr>
          <p:cNvPr id="4" name="Shape 1"/>
          <p:cNvSpPr/>
          <p:nvPr/>
        </p:nvSpPr>
        <p:spPr>
          <a:xfrm>
            <a:off x="23370921" y="10515600"/>
            <a:ext cx="1016127" cy="3200400"/>
          </a:xfrm>
          <a:prstGeom prst="rect">
            <a:avLst/>
          </a:prstGeom>
          <a:noFill/>
          <a:ln/>
        </p:spPr>
      </p:sp>
      <p:sp>
        <p:nvSpPr>
          <p:cNvPr id="6" name="Shape 2"/>
          <p:cNvSpPr/>
          <p:nvPr/>
        </p:nvSpPr>
        <p:spPr>
          <a:xfrm>
            <a:off x="12384048" y="5156200"/>
            <a:ext cx="10631229" cy="2463800"/>
          </a:xfrm>
          <a:prstGeom prst="rect">
            <a:avLst/>
          </a:prstGeom>
          <a:solidFill>
            <a:srgbClr val="DBE2FC">
              <a:alpha val="100000"/>
            </a:srgbClr>
          </a:solidFill>
          <a:ln w="50800">
            <a:solidFill>
              <a:srgbClr val="1C0A76"/>
            </a:solidFill>
            <a:prstDash val="solid"/>
          </a:ln>
        </p:spPr>
      </p:sp>
      <p:sp>
        <p:nvSpPr>
          <p:cNvPr id="7" name="Text 3"/>
          <p:cNvSpPr/>
          <p:nvPr/>
        </p:nvSpPr>
        <p:spPr>
          <a:xfrm>
            <a:off x="13146143" y="5461000"/>
            <a:ext cx="9648973" cy="2396067"/>
          </a:xfrm>
          <a:prstGeom prst="rect">
            <a:avLst/>
          </a:prstGeom>
          <a:noFill/>
          <a:ln/>
        </p:spPr>
        <p:txBody>
          <a:bodyPr wrap="square" lIns="0" tIns="0" rIns="0" bIns="0" rtlCol="0" anchor="t"/>
          <a:lstStyle/>
          <a:p>
            <a:pPr algn="l"/>
            <a:r>
              <a:rPr lang="en-US" sz="5400" b="1" dirty="0">
                <a:solidFill>
                  <a:schemeClr val="accent1"/>
                </a:solidFill>
                <a:latin typeface="Times New Roman" panose="02020603050405020304" pitchFamily="18" charset="0"/>
                <a:cs typeface="Times New Roman" panose="02020603050405020304" pitchFamily="18" charset="0"/>
              </a:rPr>
              <a:t>Course 2 : Data Management and Analysis with MS Excel</a:t>
            </a:r>
            <a:endParaRPr lang="en-US" sz="6600" b="1" dirty="0"/>
          </a:p>
        </p:txBody>
      </p:sp>
      <p:pic>
        <p:nvPicPr>
          <p:cNvPr id="8" name="Image 2" descr="preencoded.png"/>
          <p:cNvPicPr>
            <a:picLocks noChangeAspect="1"/>
          </p:cNvPicPr>
          <p:nvPr/>
        </p:nvPicPr>
        <p:blipFill>
          <a:blip r:embed="rId4"/>
          <a:stretch>
            <a:fillRect/>
          </a:stretch>
        </p:blipFill>
        <p:spPr>
          <a:xfrm>
            <a:off x="647781" y="2565400"/>
            <a:ext cx="11382936" cy="10109581"/>
          </a:xfrm>
          <a:prstGeom prst="rect">
            <a:avLst/>
          </a:prstGeom>
        </p:spPr>
      </p:pic>
      <p:sp>
        <p:nvSpPr>
          <p:cNvPr id="12" name="Shape 2">
            <a:extLst>
              <a:ext uri="{FF2B5EF4-FFF2-40B4-BE49-F238E27FC236}">
                <a16:creationId xmlns:a16="http://schemas.microsoft.com/office/drawing/2014/main" id="{19875272-4140-4A48-AB34-FB5EC59E9A68}"/>
              </a:ext>
            </a:extLst>
          </p:cNvPr>
          <p:cNvSpPr/>
          <p:nvPr/>
        </p:nvSpPr>
        <p:spPr>
          <a:xfrm>
            <a:off x="12384048" y="7857067"/>
            <a:ext cx="10631229" cy="786902"/>
          </a:xfrm>
          <a:prstGeom prst="rect">
            <a:avLst/>
          </a:prstGeom>
          <a:solidFill>
            <a:srgbClr val="DBE2FC">
              <a:alpha val="100000"/>
            </a:srgbClr>
          </a:solidFill>
          <a:ln w="50800">
            <a:solidFill>
              <a:srgbClr val="1C0A76"/>
            </a:solidFill>
            <a:prstDash val="solid"/>
          </a:ln>
        </p:spPr>
        <p:txBody>
          <a:bodyPr/>
          <a:lstStyle/>
          <a:p>
            <a:r>
              <a:rPr lang="en-US" sz="4000" b="1" kern="1200" dirty="0">
                <a:solidFill>
                  <a:srgbClr val="4472C4"/>
                </a:solidFill>
                <a:effectLst/>
                <a:latin typeface="Times New Roman" panose="02020603050405020304" pitchFamily="18" charset="0"/>
                <a:cs typeface="Times New Roman" panose="02020603050405020304" pitchFamily="18" charset="0"/>
              </a:rPr>
              <a:t>Project Title : KPMG Data Analysis using Excel</a:t>
            </a:r>
            <a:endParaRPr lang="en-US" sz="4000" dirty="0">
              <a:effectLst/>
              <a:latin typeface="Times New Roman" panose="02020603050405020304" pitchFamily="18" charset="0"/>
              <a:cs typeface="Times New Roman" panose="02020603050405020304" pitchFamily="18" charset="0"/>
            </a:endParaRPr>
          </a:p>
          <a:p>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1F4F9"/>
        </a:solidFill>
        <a:effectLst/>
      </p:bgPr>
    </p:bg>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40543" y="321704"/>
            <a:ext cx="4138773" cy="4223643"/>
          </a:xfrm>
          <a:prstGeom prst="rect">
            <a:avLst/>
          </a:prstGeom>
        </p:spPr>
      </p:pic>
      <p:sp>
        <p:nvSpPr>
          <p:cNvPr id="4" name="Shape 0"/>
          <p:cNvSpPr/>
          <p:nvPr/>
        </p:nvSpPr>
        <p:spPr>
          <a:xfrm>
            <a:off x="23370921" y="10515600"/>
            <a:ext cx="1016127" cy="3200400"/>
          </a:xfrm>
          <a:prstGeom prst="rect">
            <a:avLst/>
          </a:prstGeom>
          <a:noFill/>
          <a:ln/>
        </p:spPr>
      </p:sp>
      <p:sp>
        <p:nvSpPr>
          <p:cNvPr id="6" name="Shape 1"/>
          <p:cNvSpPr/>
          <p:nvPr/>
        </p:nvSpPr>
        <p:spPr>
          <a:xfrm>
            <a:off x="4525940" y="427040"/>
            <a:ext cx="15394324" cy="1765300"/>
          </a:xfrm>
          <a:prstGeom prst="rect">
            <a:avLst/>
          </a:prstGeom>
          <a:solidFill>
            <a:srgbClr val="DBE2FC">
              <a:alpha val="100000"/>
            </a:srgbClr>
          </a:solidFill>
          <a:ln w="50800">
            <a:solidFill>
              <a:srgbClr val="1C0A76"/>
            </a:solidFill>
            <a:prstDash val="solid"/>
          </a:ln>
        </p:spPr>
        <p:txBody>
          <a:bodyPr/>
          <a:lstStyle/>
          <a:p>
            <a:endParaRPr lang="en-US" dirty="0"/>
          </a:p>
        </p:txBody>
      </p:sp>
      <p:sp>
        <p:nvSpPr>
          <p:cNvPr id="7" name="Text 2"/>
          <p:cNvSpPr/>
          <p:nvPr/>
        </p:nvSpPr>
        <p:spPr>
          <a:xfrm>
            <a:off x="5118680" y="687331"/>
            <a:ext cx="14208843" cy="1494367"/>
          </a:xfrm>
          <a:prstGeom prst="rect">
            <a:avLst/>
          </a:prstGeom>
          <a:noFill/>
          <a:ln/>
        </p:spPr>
        <p:txBody>
          <a:bodyPr wrap="square" lIns="0" tIns="0" rIns="0" bIns="0" rtlCol="0" anchor="t"/>
          <a:lstStyle/>
          <a:p>
            <a:pPr marL="0" indent="0" algn="ctr">
              <a:buNone/>
            </a:pPr>
            <a:r>
              <a:rPr lang="en-US" sz="7200" b="1" dirty="0">
                <a:solidFill>
                  <a:schemeClr val="accent1"/>
                </a:solidFill>
                <a:latin typeface="Times New Roman" panose="02020603050405020304" pitchFamily="18" charset="0"/>
                <a:cs typeface="Times New Roman" panose="02020603050405020304" pitchFamily="18" charset="0"/>
              </a:rPr>
              <a:t>Summary of Key Insights</a:t>
            </a:r>
          </a:p>
        </p:txBody>
      </p:sp>
      <p:sp>
        <p:nvSpPr>
          <p:cNvPr id="12" name="TextBox 11">
            <a:extLst>
              <a:ext uri="{FF2B5EF4-FFF2-40B4-BE49-F238E27FC236}">
                <a16:creationId xmlns:a16="http://schemas.microsoft.com/office/drawing/2014/main" id="{FABA4016-C63A-4185-BCF5-37CF209B68DB}"/>
              </a:ext>
            </a:extLst>
          </p:cNvPr>
          <p:cNvSpPr txBox="1"/>
          <p:nvPr/>
        </p:nvSpPr>
        <p:spPr>
          <a:xfrm>
            <a:off x="1362269" y="5161036"/>
            <a:ext cx="21721666" cy="4365298"/>
          </a:xfrm>
          <a:prstGeom prst="rect">
            <a:avLst/>
          </a:prstGeom>
          <a:noFill/>
        </p:spPr>
        <p:txBody>
          <a:bodyPr wrap="square" rtlCol="0">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5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first step was to clean the data to make it ready for analysis.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5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All the customer address, demographic, and transaction details were checked properly like duplicate records were removed, missing information was filled, etc.</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5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Once the data was corrected it became easier to work with the next task.</a:t>
            </a:r>
            <a:endParaRPr kumimoji="0" lang="en-US" sz="5400" b="0" i="0" u="none" strike="noStrike" kern="1200" cap="none" spc="0" normalizeH="0" baseline="0" noProof="0" dirty="0">
              <a:ln>
                <a:noFill/>
              </a:ln>
              <a:solidFill>
                <a:srgbClr val="4472C4"/>
              </a:solidFill>
              <a:effectLst/>
              <a:uLnTx/>
              <a:uFillTx/>
              <a:latin typeface="Times New Roman" panose="02020603050405020304" pitchFamily="18" charset="0"/>
              <a:ea typeface="+mn-ea"/>
              <a:cs typeface="Times New Roman" panose="02020603050405020304" pitchFamily="18" charset="0"/>
            </a:endParaRPr>
          </a:p>
          <a:p>
            <a:endParaRPr lang="en-US" dirty="0"/>
          </a:p>
        </p:txBody>
      </p:sp>
      <p:sp>
        <p:nvSpPr>
          <p:cNvPr id="13" name="Shape 1">
            <a:extLst>
              <a:ext uri="{FF2B5EF4-FFF2-40B4-BE49-F238E27FC236}">
                <a16:creationId xmlns:a16="http://schemas.microsoft.com/office/drawing/2014/main" id="{2079B6B3-0DF9-4A13-9545-C8E0F543DE0B}"/>
              </a:ext>
            </a:extLst>
          </p:cNvPr>
          <p:cNvSpPr/>
          <p:nvPr/>
        </p:nvSpPr>
        <p:spPr>
          <a:xfrm>
            <a:off x="2959470" y="2621591"/>
            <a:ext cx="15394324" cy="1765300"/>
          </a:xfrm>
          <a:prstGeom prst="rect">
            <a:avLst/>
          </a:prstGeom>
          <a:solidFill>
            <a:srgbClr val="DBE2FC">
              <a:alpha val="100000"/>
            </a:srgbClr>
          </a:solidFill>
          <a:ln w="50800">
            <a:solidFill>
              <a:srgbClr val="1C0A76"/>
            </a:solidFill>
            <a:prstDash val="solid"/>
          </a:ln>
        </p:spPr>
        <p:txBody>
          <a:body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US" sz="6600" i="0" u="none" strike="noStrike" kern="1200" cap="none" spc="0" normalizeH="0" baseline="0" noProof="0" dirty="0">
                <a:ln>
                  <a:noFill/>
                </a:ln>
                <a:solidFill>
                  <a:srgbClr val="4472C4"/>
                </a:solidFill>
                <a:effectLst/>
                <a:uLnTx/>
                <a:uFillTx/>
                <a:latin typeface="Times New Roman" panose="02020603050405020304" pitchFamily="18" charset="0"/>
                <a:ea typeface="+mn-ea"/>
                <a:cs typeface="Times New Roman" panose="02020603050405020304" pitchFamily="18" charset="0"/>
              </a:rPr>
              <a:t>Data Preparation &amp; Cleaning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40543" y="321704"/>
            <a:ext cx="4138773" cy="4223643"/>
          </a:xfrm>
          <a:prstGeom prst="rect">
            <a:avLst/>
          </a:prstGeom>
        </p:spPr>
      </p:pic>
      <p:sp>
        <p:nvSpPr>
          <p:cNvPr id="4" name="Shape 0"/>
          <p:cNvSpPr/>
          <p:nvPr/>
        </p:nvSpPr>
        <p:spPr>
          <a:xfrm>
            <a:off x="23370921" y="10515600"/>
            <a:ext cx="1016127" cy="3200400"/>
          </a:xfrm>
          <a:prstGeom prst="rect">
            <a:avLst/>
          </a:prstGeom>
          <a:noFill/>
          <a:ln/>
        </p:spPr>
      </p:sp>
      <p:sp>
        <p:nvSpPr>
          <p:cNvPr id="6" name="Shape 1"/>
          <p:cNvSpPr/>
          <p:nvPr/>
        </p:nvSpPr>
        <p:spPr>
          <a:xfrm>
            <a:off x="2959470" y="1147344"/>
            <a:ext cx="15394324" cy="1765300"/>
          </a:xfrm>
          <a:prstGeom prst="rect">
            <a:avLst/>
          </a:prstGeom>
          <a:solidFill>
            <a:srgbClr val="DBE2FC">
              <a:alpha val="100000"/>
            </a:srgbClr>
          </a:solidFill>
          <a:ln w="50800">
            <a:solidFill>
              <a:srgbClr val="1C0A76"/>
            </a:solidFill>
            <a:prstDash val="solid"/>
          </a:ln>
        </p:spPr>
        <p:txBody>
          <a:bodyPr/>
          <a:lstStyle/>
          <a:p>
            <a:endParaRPr lang="en-US" dirty="0"/>
          </a:p>
        </p:txBody>
      </p:sp>
      <p:sp>
        <p:nvSpPr>
          <p:cNvPr id="7" name="Text 2"/>
          <p:cNvSpPr/>
          <p:nvPr/>
        </p:nvSpPr>
        <p:spPr>
          <a:xfrm>
            <a:off x="3552210" y="1411289"/>
            <a:ext cx="14208843" cy="1494367"/>
          </a:xfrm>
          <a:prstGeom prst="rect">
            <a:avLst/>
          </a:prstGeom>
          <a:noFill/>
          <a:ln/>
        </p:spPr>
        <p:txBody>
          <a:bodyPr wrap="square" lIns="0" tIns="0" rIns="0" bIns="0" rtlCol="0" anchor="t"/>
          <a:lstStyle/>
          <a:p>
            <a:pPr marL="0" indent="0" algn="ctr">
              <a:buNone/>
            </a:pPr>
            <a:r>
              <a:rPr lang="en-US" sz="6600" dirty="0">
                <a:solidFill>
                  <a:srgbClr val="0070C0"/>
                </a:solidFill>
                <a:latin typeface="Times New Roman" panose="02020603050405020304" pitchFamily="18" charset="0"/>
                <a:cs typeface="Times New Roman" panose="02020603050405020304" pitchFamily="18" charset="0"/>
              </a:rPr>
              <a:t>Customer Segmentation</a:t>
            </a:r>
          </a:p>
        </p:txBody>
      </p:sp>
      <p:sp>
        <p:nvSpPr>
          <p:cNvPr id="12" name="TextBox 11">
            <a:extLst>
              <a:ext uri="{FF2B5EF4-FFF2-40B4-BE49-F238E27FC236}">
                <a16:creationId xmlns:a16="http://schemas.microsoft.com/office/drawing/2014/main" id="{FABA4016-C63A-4185-BCF5-37CF209B68DB}"/>
              </a:ext>
            </a:extLst>
          </p:cNvPr>
          <p:cNvSpPr txBox="1"/>
          <p:nvPr/>
        </p:nvSpPr>
        <p:spPr>
          <a:xfrm>
            <a:off x="1362269" y="4795362"/>
            <a:ext cx="21721666" cy="6460230"/>
          </a:xfrm>
          <a:prstGeom prst="rect">
            <a:avLst/>
          </a:prstGeom>
          <a:noFill/>
        </p:spPr>
        <p:txBody>
          <a:bodyPr wrap="square" rtlCol="0">
            <a:spAutoFit/>
          </a:bodyPr>
          <a:lstStyle/>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The next task was to group customers based on their wealth segment, gender, and job industry.</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It is found that customers with higher income will stay connected with the company for a long time and make purchases.</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The middle-class group have steady purchase history and the general customers spent less per order.</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This grouping made understand how purchases change across different types of customers.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867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40543" y="321704"/>
            <a:ext cx="4138773" cy="4223643"/>
          </a:xfrm>
          <a:prstGeom prst="rect">
            <a:avLst/>
          </a:prstGeom>
        </p:spPr>
      </p:pic>
      <p:sp>
        <p:nvSpPr>
          <p:cNvPr id="4" name="Shape 0"/>
          <p:cNvSpPr/>
          <p:nvPr/>
        </p:nvSpPr>
        <p:spPr>
          <a:xfrm>
            <a:off x="23370921" y="10515600"/>
            <a:ext cx="1016127" cy="3200400"/>
          </a:xfrm>
          <a:prstGeom prst="rect">
            <a:avLst/>
          </a:prstGeom>
          <a:noFill/>
          <a:ln/>
        </p:spPr>
      </p:sp>
      <p:sp>
        <p:nvSpPr>
          <p:cNvPr id="6" name="Shape 1"/>
          <p:cNvSpPr/>
          <p:nvPr/>
        </p:nvSpPr>
        <p:spPr>
          <a:xfrm>
            <a:off x="2959469" y="1129415"/>
            <a:ext cx="15394324" cy="1765300"/>
          </a:xfrm>
          <a:prstGeom prst="rect">
            <a:avLst/>
          </a:prstGeom>
          <a:solidFill>
            <a:srgbClr val="DBE2FC">
              <a:alpha val="100000"/>
            </a:srgbClr>
          </a:solidFill>
          <a:ln w="50800">
            <a:solidFill>
              <a:srgbClr val="1C0A76"/>
            </a:solidFill>
            <a:prstDash val="solid"/>
          </a:ln>
        </p:spPr>
        <p:txBody>
          <a:bodyPr/>
          <a:lstStyle/>
          <a:p>
            <a:endParaRPr lang="en-US" dirty="0"/>
          </a:p>
        </p:txBody>
      </p:sp>
      <p:sp>
        <p:nvSpPr>
          <p:cNvPr id="7" name="Text 2"/>
          <p:cNvSpPr/>
          <p:nvPr/>
        </p:nvSpPr>
        <p:spPr>
          <a:xfrm>
            <a:off x="3552210" y="1400348"/>
            <a:ext cx="14208843" cy="1494367"/>
          </a:xfrm>
          <a:prstGeom prst="rect">
            <a:avLst/>
          </a:prstGeom>
          <a:noFill/>
          <a:ln/>
        </p:spPr>
        <p:txBody>
          <a:bodyPr wrap="square" lIns="0" tIns="0" rIns="0" bIns="0" rtlCol="0" anchor="t"/>
          <a:lstStyle/>
          <a:p>
            <a:pPr marL="0" indent="0" algn="ctr">
              <a:buNone/>
            </a:pPr>
            <a:r>
              <a:rPr lang="en-US" sz="6600" dirty="0">
                <a:solidFill>
                  <a:srgbClr val="0070C0"/>
                </a:solidFill>
                <a:latin typeface="Times New Roman" panose="02020603050405020304" pitchFamily="18" charset="0"/>
                <a:cs typeface="Times New Roman" panose="02020603050405020304" pitchFamily="18" charset="0"/>
              </a:rPr>
              <a:t>Transaction Analysis</a:t>
            </a:r>
          </a:p>
        </p:txBody>
      </p:sp>
      <p:sp>
        <p:nvSpPr>
          <p:cNvPr id="12" name="TextBox 11">
            <a:extLst>
              <a:ext uri="{FF2B5EF4-FFF2-40B4-BE49-F238E27FC236}">
                <a16:creationId xmlns:a16="http://schemas.microsoft.com/office/drawing/2014/main" id="{FABA4016-C63A-4185-BCF5-37CF209B68DB}"/>
              </a:ext>
            </a:extLst>
          </p:cNvPr>
          <p:cNvSpPr txBox="1"/>
          <p:nvPr/>
        </p:nvSpPr>
        <p:spPr>
          <a:xfrm>
            <a:off x="1362269" y="4795362"/>
            <a:ext cx="21721666" cy="4836196"/>
          </a:xfrm>
          <a:prstGeom prst="rect">
            <a:avLst/>
          </a:prstGeom>
          <a:noFill/>
        </p:spPr>
        <p:txBody>
          <a:bodyPr wrap="square" rtlCol="0">
            <a:spAutoFit/>
          </a:bodyPr>
          <a:lstStyle/>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In this part, the task was to analyze transaction data to identify trends and patterns.</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When monthly sales were compared, there is a clear increase in middle of the year, which means customers buy more products during that period.</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This shows when the company sells the most and which products gives steady income.</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623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40543" y="321704"/>
            <a:ext cx="4138773" cy="4223643"/>
          </a:xfrm>
          <a:prstGeom prst="rect">
            <a:avLst/>
          </a:prstGeom>
        </p:spPr>
      </p:pic>
      <p:sp>
        <p:nvSpPr>
          <p:cNvPr id="4" name="Shape 0"/>
          <p:cNvSpPr/>
          <p:nvPr/>
        </p:nvSpPr>
        <p:spPr>
          <a:xfrm>
            <a:off x="23370921" y="10515600"/>
            <a:ext cx="1016127" cy="3200400"/>
          </a:xfrm>
          <a:prstGeom prst="rect">
            <a:avLst/>
          </a:prstGeom>
          <a:noFill/>
          <a:ln/>
        </p:spPr>
      </p:sp>
      <p:sp>
        <p:nvSpPr>
          <p:cNvPr id="6" name="Shape 1"/>
          <p:cNvSpPr/>
          <p:nvPr/>
        </p:nvSpPr>
        <p:spPr>
          <a:xfrm>
            <a:off x="2959470" y="1129414"/>
            <a:ext cx="15394324" cy="1765300"/>
          </a:xfrm>
          <a:prstGeom prst="rect">
            <a:avLst/>
          </a:prstGeom>
          <a:solidFill>
            <a:srgbClr val="DBE2FC">
              <a:alpha val="100000"/>
            </a:srgbClr>
          </a:solidFill>
          <a:ln w="50800">
            <a:solidFill>
              <a:srgbClr val="1C0A76"/>
            </a:solidFill>
            <a:prstDash val="solid"/>
          </a:ln>
        </p:spPr>
        <p:txBody>
          <a:bodyPr/>
          <a:lstStyle/>
          <a:p>
            <a:endParaRPr lang="en-US" dirty="0"/>
          </a:p>
        </p:txBody>
      </p:sp>
      <p:sp>
        <p:nvSpPr>
          <p:cNvPr id="7" name="Text 2"/>
          <p:cNvSpPr/>
          <p:nvPr/>
        </p:nvSpPr>
        <p:spPr>
          <a:xfrm>
            <a:off x="3552210" y="1400347"/>
            <a:ext cx="14208843" cy="1494367"/>
          </a:xfrm>
          <a:prstGeom prst="rect">
            <a:avLst/>
          </a:prstGeom>
          <a:noFill/>
          <a:ln/>
        </p:spPr>
        <p:txBody>
          <a:bodyPr wrap="square" lIns="0" tIns="0" rIns="0" bIns="0" rtlCol="0" anchor="t"/>
          <a:lstStyle/>
          <a:p>
            <a:pPr marL="0" indent="0" algn="ctr">
              <a:buNone/>
            </a:pPr>
            <a:r>
              <a:rPr lang="en-US" sz="6600" dirty="0">
                <a:solidFill>
                  <a:srgbClr val="0070C0"/>
                </a:solidFill>
                <a:latin typeface="Times New Roman" panose="02020603050405020304" pitchFamily="18" charset="0"/>
                <a:cs typeface="Times New Roman" panose="02020603050405020304" pitchFamily="18" charset="0"/>
              </a:rPr>
              <a:t>New Customer Insights</a:t>
            </a:r>
          </a:p>
        </p:txBody>
      </p:sp>
      <p:sp>
        <p:nvSpPr>
          <p:cNvPr id="12" name="TextBox 11">
            <a:extLst>
              <a:ext uri="{FF2B5EF4-FFF2-40B4-BE49-F238E27FC236}">
                <a16:creationId xmlns:a16="http://schemas.microsoft.com/office/drawing/2014/main" id="{FABA4016-C63A-4185-BCF5-37CF209B68DB}"/>
              </a:ext>
            </a:extLst>
          </p:cNvPr>
          <p:cNvSpPr txBox="1"/>
          <p:nvPr/>
        </p:nvSpPr>
        <p:spPr>
          <a:xfrm>
            <a:off x="1362269" y="4795362"/>
            <a:ext cx="21721666" cy="6460230"/>
          </a:xfrm>
          <a:prstGeom prst="rect">
            <a:avLst/>
          </a:prstGeom>
          <a:noFill/>
        </p:spPr>
        <p:txBody>
          <a:bodyPr wrap="square" rtlCol="0">
            <a:spAutoFit/>
          </a:bodyPr>
          <a:lstStyle/>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This task is focused on people who recently joined as customers(New Customers).</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Upon inspection most of them are from New South Wales and Queensland.</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Most of them belong to lower or middle class groups, every customer have good property values, which means they could become long-term customers if handled well.</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The idea here was to understand from where new customers are coming from and what their future connection looks like.</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8903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40543" y="321704"/>
            <a:ext cx="4138773" cy="4223643"/>
          </a:xfrm>
          <a:prstGeom prst="rect">
            <a:avLst/>
          </a:prstGeom>
        </p:spPr>
      </p:pic>
      <p:sp>
        <p:nvSpPr>
          <p:cNvPr id="4" name="Shape 0"/>
          <p:cNvSpPr/>
          <p:nvPr/>
        </p:nvSpPr>
        <p:spPr>
          <a:xfrm>
            <a:off x="23370921" y="10515600"/>
            <a:ext cx="1016127" cy="3200400"/>
          </a:xfrm>
          <a:prstGeom prst="rect">
            <a:avLst/>
          </a:prstGeom>
          <a:noFill/>
          <a:ln/>
        </p:spPr>
      </p:sp>
      <p:sp>
        <p:nvSpPr>
          <p:cNvPr id="6" name="Shape 1"/>
          <p:cNvSpPr/>
          <p:nvPr/>
        </p:nvSpPr>
        <p:spPr>
          <a:xfrm>
            <a:off x="2959469" y="1129414"/>
            <a:ext cx="16942177" cy="1765300"/>
          </a:xfrm>
          <a:prstGeom prst="rect">
            <a:avLst/>
          </a:prstGeom>
          <a:solidFill>
            <a:srgbClr val="DBE2FC">
              <a:alpha val="100000"/>
            </a:srgbClr>
          </a:solidFill>
          <a:ln w="50800">
            <a:solidFill>
              <a:srgbClr val="1C0A76"/>
            </a:solidFill>
            <a:prstDash val="solid"/>
          </a:ln>
        </p:spPr>
        <p:txBody>
          <a:bodyPr/>
          <a:lstStyle/>
          <a:p>
            <a:endParaRPr lang="en-US" dirty="0"/>
          </a:p>
        </p:txBody>
      </p:sp>
      <p:sp>
        <p:nvSpPr>
          <p:cNvPr id="7" name="Text 2"/>
          <p:cNvSpPr/>
          <p:nvPr/>
        </p:nvSpPr>
        <p:spPr>
          <a:xfrm>
            <a:off x="3739932" y="1399212"/>
            <a:ext cx="15381249" cy="1494367"/>
          </a:xfrm>
          <a:prstGeom prst="rect">
            <a:avLst/>
          </a:prstGeom>
          <a:noFill/>
          <a:ln/>
        </p:spPr>
        <p:txBody>
          <a:bodyPr wrap="square" lIns="0" tIns="0" rIns="0" bIns="0" rtlCol="0" anchor="t"/>
          <a:lstStyle/>
          <a:p>
            <a:pPr marL="0" indent="0" algn="ctr">
              <a:buNone/>
            </a:pPr>
            <a:r>
              <a:rPr lang="en-US" sz="6600" dirty="0">
                <a:solidFill>
                  <a:srgbClr val="0070C0"/>
                </a:solidFill>
                <a:latin typeface="Times New Roman" panose="02020603050405020304" pitchFamily="18" charset="0"/>
                <a:cs typeface="Times New Roman" panose="02020603050405020304" pitchFamily="18" charset="0"/>
              </a:rPr>
              <a:t>Customer Lifetime Value (CLV) Analysis</a:t>
            </a:r>
          </a:p>
        </p:txBody>
      </p:sp>
      <p:sp>
        <p:nvSpPr>
          <p:cNvPr id="12" name="TextBox 11">
            <a:extLst>
              <a:ext uri="{FF2B5EF4-FFF2-40B4-BE49-F238E27FC236}">
                <a16:creationId xmlns:a16="http://schemas.microsoft.com/office/drawing/2014/main" id="{FABA4016-C63A-4185-BCF5-37CF209B68DB}"/>
              </a:ext>
            </a:extLst>
          </p:cNvPr>
          <p:cNvSpPr txBox="1"/>
          <p:nvPr/>
        </p:nvSpPr>
        <p:spPr>
          <a:xfrm>
            <a:off x="1362269" y="4795362"/>
            <a:ext cx="21721666" cy="6460230"/>
          </a:xfrm>
          <a:prstGeom prst="rect">
            <a:avLst/>
          </a:prstGeom>
          <a:noFill/>
        </p:spPr>
        <p:txBody>
          <a:bodyPr wrap="square" rtlCol="0">
            <a:spAutoFit/>
          </a:bodyPr>
          <a:lstStyle/>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This task is to find out which customers bring the most profit over time.</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To find out which customers bring profit, customer lifetime value is calculated using their purchase frequency and spending.</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After analyzing it is clear that customers with higher income levels and those working in industries like finance or manufacturing spend more and stay longer with the company.</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This helps to identify which type of customers contribute the most and where the company should focus, like marketing, etc.</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54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40543" y="321704"/>
            <a:ext cx="4138773" cy="4223643"/>
          </a:xfrm>
          <a:prstGeom prst="rect">
            <a:avLst/>
          </a:prstGeom>
        </p:spPr>
      </p:pic>
      <p:sp>
        <p:nvSpPr>
          <p:cNvPr id="4" name="Shape 0"/>
          <p:cNvSpPr/>
          <p:nvPr/>
        </p:nvSpPr>
        <p:spPr>
          <a:xfrm>
            <a:off x="23370921" y="10515600"/>
            <a:ext cx="1016127" cy="3200400"/>
          </a:xfrm>
          <a:prstGeom prst="rect">
            <a:avLst/>
          </a:prstGeom>
          <a:noFill/>
          <a:ln/>
        </p:spPr>
      </p:sp>
      <p:sp>
        <p:nvSpPr>
          <p:cNvPr id="6" name="Shape 1"/>
          <p:cNvSpPr/>
          <p:nvPr/>
        </p:nvSpPr>
        <p:spPr>
          <a:xfrm>
            <a:off x="2959469" y="1129414"/>
            <a:ext cx="16942177" cy="1765300"/>
          </a:xfrm>
          <a:prstGeom prst="rect">
            <a:avLst/>
          </a:prstGeom>
          <a:solidFill>
            <a:srgbClr val="DBE2FC">
              <a:alpha val="100000"/>
            </a:srgbClr>
          </a:solidFill>
          <a:ln w="50800">
            <a:solidFill>
              <a:srgbClr val="1C0A76"/>
            </a:solidFill>
            <a:prstDash val="solid"/>
          </a:ln>
        </p:spPr>
        <p:txBody>
          <a:bodyPr/>
          <a:lstStyle/>
          <a:p>
            <a:endParaRPr lang="en-US" dirty="0"/>
          </a:p>
        </p:txBody>
      </p:sp>
      <p:sp>
        <p:nvSpPr>
          <p:cNvPr id="7" name="Text 2"/>
          <p:cNvSpPr/>
          <p:nvPr/>
        </p:nvSpPr>
        <p:spPr>
          <a:xfrm>
            <a:off x="3739932" y="1400347"/>
            <a:ext cx="15381249" cy="1494367"/>
          </a:xfrm>
          <a:prstGeom prst="rect">
            <a:avLst/>
          </a:prstGeom>
          <a:noFill/>
          <a:ln/>
        </p:spPr>
        <p:txBody>
          <a:bodyPr wrap="square" lIns="0" tIns="0" rIns="0" bIns="0" rtlCol="0" anchor="t"/>
          <a:lstStyle/>
          <a:p>
            <a:pPr marL="0" indent="0" algn="ctr">
              <a:buNone/>
            </a:pPr>
            <a:r>
              <a:rPr lang="en-US" sz="6600" b="1" dirty="0">
                <a:solidFill>
                  <a:srgbClr val="0070C0"/>
                </a:solidFill>
                <a:latin typeface="Times New Roman" panose="02020603050405020304" pitchFamily="18" charset="0"/>
                <a:cs typeface="Times New Roman" panose="02020603050405020304" pitchFamily="18" charset="0"/>
              </a:rPr>
              <a:t>Recommendations</a:t>
            </a:r>
          </a:p>
        </p:txBody>
      </p:sp>
      <p:sp>
        <p:nvSpPr>
          <p:cNvPr id="12" name="TextBox 11">
            <a:extLst>
              <a:ext uri="{FF2B5EF4-FFF2-40B4-BE49-F238E27FC236}">
                <a16:creationId xmlns:a16="http://schemas.microsoft.com/office/drawing/2014/main" id="{FABA4016-C63A-4185-BCF5-37CF209B68DB}"/>
              </a:ext>
            </a:extLst>
          </p:cNvPr>
          <p:cNvSpPr txBox="1"/>
          <p:nvPr/>
        </p:nvSpPr>
        <p:spPr>
          <a:xfrm>
            <a:off x="1362269" y="4795362"/>
            <a:ext cx="21721666" cy="5712333"/>
          </a:xfrm>
          <a:prstGeom prst="rect">
            <a:avLst/>
          </a:prstGeom>
          <a:noFill/>
        </p:spPr>
        <p:txBody>
          <a:bodyPr wrap="square" rtlCol="0">
            <a:spAutoFit/>
          </a:bodyPr>
          <a:lstStyle/>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Focus on customers who spend more and stay longer by providing premium service or by giving loyalty rewards, etc.</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Encouraging normal customers to buy more often by providing small discount or combo offers, etc.</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Focus marketing on strong regions like doing promotion in those areas.</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Improve and promote popular products, which customers often purchase or trust.</a:t>
            </a:r>
          </a:p>
        </p:txBody>
      </p:sp>
    </p:spTree>
    <p:extLst>
      <p:ext uri="{BB962C8B-B14F-4D97-AF65-F5344CB8AC3E}">
        <p14:creationId xmlns:p14="http://schemas.microsoft.com/office/powerpoint/2010/main" val="3294660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240543" y="321704"/>
            <a:ext cx="4138773" cy="4223643"/>
          </a:xfrm>
          <a:prstGeom prst="rect">
            <a:avLst/>
          </a:prstGeom>
        </p:spPr>
      </p:pic>
      <p:sp>
        <p:nvSpPr>
          <p:cNvPr id="4" name="Shape 0"/>
          <p:cNvSpPr/>
          <p:nvPr/>
        </p:nvSpPr>
        <p:spPr>
          <a:xfrm>
            <a:off x="23370921" y="10515600"/>
            <a:ext cx="1016127" cy="3200400"/>
          </a:xfrm>
          <a:prstGeom prst="rect">
            <a:avLst/>
          </a:prstGeom>
          <a:noFill/>
          <a:ln/>
        </p:spPr>
      </p:sp>
      <p:sp>
        <p:nvSpPr>
          <p:cNvPr id="6" name="Shape 1"/>
          <p:cNvSpPr/>
          <p:nvPr/>
        </p:nvSpPr>
        <p:spPr>
          <a:xfrm>
            <a:off x="2959469" y="1147343"/>
            <a:ext cx="16942177" cy="1765300"/>
          </a:xfrm>
          <a:prstGeom prst="rect">
            <a:avLst/>
          </a:prstGeom>
          <a:solidFill>
            <a:srgbClr val="DBE2FC">
              <a:alpha val="100000"/>
            </a:srgbClr>
          </a:solidFill>
          <a:ln w="50800">
            <a:solidFill>
              <a:srgbClr val="1C0A76"/>
            </a:solidFill>
            <a:prstDash val="solid"/>
          </a:ln>
        </p:spPr>
        <p:txBody>
          <a:bodyPr/>
          <a:lstStyle/>
          <a:p>
            <a:endParaRPr lang="en-US" dirty="0"/>
          </a:p>
        </p:txBody>
      </p:sp>
      <p:sp>
        <p:nvSpPr>
          <p:cNvPr id="7" name="Text 2"/>
          <p:cNvSpPr/>
          <p:nvPr/>
        </p:nvSpPr>
        <p:spPr>
          <a:xfrm>
            <a:off x="3739932" y="1417141"/>
            <a:ext cx="15381249" cy="1494367"/>
          </a:xfrm>
          <a:prstGeom prst="rect">
            <a:avLst/>
          </a:prstGeom>
          <a:noFill/>
          <a:ln/>
        </p:spPr>
        <p:txBody>
          <a:bodyPr wrap="square" lIns="0" tIns="0" rIns="0" bIns="0" rtlCol="0" anchor="t"/>
          <a:lstStyle/>
          <a:p>
            <a:pPr marL="0" indent="0" algn="ctr">
              <a:buNone/>
            </a:pPr>
            <a:r>
              <a:rPr lang="en-US" sz="6600" b="1" dirty="0">
                <a:solidFill>
                  <a:srgbClr val="0070C0"/>
                </a:solidFill>
                <a:latin typeface="Times New Roman" panose="02020603050405020304" pitchFamily="18" charset="0"/>
                <a:cs typeface="Times New Roman" panose="02020603050405020304" pitchFamily="18" charset="0"/>
              </a:rPr>
              <a:t>Continuation…</a:t>
            </a:r>
          </a:p>
        </p:txBody>
      </p:sp>
      <p:sp>
        <p:nvSpPr>
          <p:cNvPr id="12" name="TextBox 11">
            <a:extLst>
              <a:ext uri="{FF2B5EF4-FFF2-40B4-BE49-F238E27FC236}">
                <a16:creationId xmlns:a16="http://schemas.microsoft.com/office/drawing/2014/main" id="{FABA4016-C63A-4185-BCF5-37CF209B68DB}"/>
              </a:ext>
            </a:extLst>
          </p:cNvPr>
          <p:cNvSpPr txBox="1"/>
          <p:nvPr/>
        </p:nvSpPr>
        <p:spPr>
          <a:xfrm>
            <a:off x="1362269" y="4795362"/>
            <a:ext cx="21721666" cy="5712333"/>
          </a:xfrm>
          <a:prstGeom prst="rect">
            <a:avLst/>
          </a:prstGeom>
          <a:noFill/>
        </p:spPr>
        <p:txBody>
          <a:bodyPr wrap="square" rtlCol="0">
            <a:spAutoFit/>
          </a:bodyPr>
          <a:lstStyle/>
          <a:p>
            <a:pPr marL="685800" indent="-685800">
              <a:lnSpc>
                <a:spcPct val="90000"/>
              </a:lnSpc>
              <a:spcBef>
                <a:spcPts val="1000"/>
              </a:spcBef>
              <a:buFont typeface="Arial" panose="020B0604020202020204" pitchFamily="34" charset="0"/>
              <a:buChar char="•"/>
              <a:defRPr/>
            </a:pPr>
            <a:r>
              <a:rPr lang="en-US" sz="5400" dirty="0">
                <a:latin typeface="Times New Roman" panose="02020603050405020304" pitchFamily="18" charset="0"/>
                <a:cs typeface="Times New Roman" panose="02020603050405020304" pitchFamily="18" charset="0"/>
              </a:rPr>
              <a:t>Build better relationships with new customers by giving welcome offers and providing referral offers, etc.</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Should keep checking customer purchase behavior regularly to plan accordingly, like what measures can be taken to keep them engaging.</a:t>
            </a:r>
          </a:p>
          <a:p>
            <a:pPr marL="685800" marR="0" lvl="0" indent="-6858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5400" dirty="0">
                <a:latin typeface="Times New Roman" panose="02020603050405020304" pitchFamily="18" charset="0"/>
                <a:cs typeface="Times New Roman" panose="02020603050405020304" pitchFamily="18" charset="0"/>
              </a:rPr>
              <a:t>Build a strong connection and trust with customer, like keep engaging with customer, like </a:t>
            </a:r>
            <a:r>
              <a:rPr lang="en-US" sz="5400">
                <a:latin typeface="Times New Roman" panose="02020603050405020304" pitchFamily="18" charset="0"/>
                <a:cs typeface="Times New Roman" panose="02020603050405020304" pitchFamily="18" charset="0"/>
              </a:rPr>
              <a:t>reminding them of </a:t>
            </a:r>
            <a:r>
              <a:rPr lang="en-US" sz="5400" dirty="0">
                <a:latin typeface="Times New Roman" panose="02020603050405020304" pitchFamily="18" charset="0"/>
                <a:cs typeface="Times New Roman" panose="02020603050405020304" pitchFamily="18" charset="0"/>
              </a:rPr>
              <a:t>available offers through calls, SMS, etc.</a:t>
            </a:r>
          </a:p>
          <a:p>
            <a:pPr marR="0" lvl="0" algn="l" defTabSz="914400" rtl="0" eaLnBrk="1" fontAlgn="auto" latinLnBrk="0" hangingPunct="1">
              <a:lnSpc>
                <a:spcPct val="90000"/>
              </a:lnSpc>
              <a:spcBef>
                <a:spcPts val="1000"/>
              </a:spcBef>
              <a:spcAft>
                <a:spcPts val="0"/>
              </a:spcAft>
              <a:buClrTx/>
              <a:buSzTx/>
              <a:tabLst/>
              <a:defRPr/>
            </a:pPr>
            <a:endParaRPr lang="en-US"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185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5">
    <p:bg>
      <p:bgPr>
        <a:solidFill>
          <a:srgbClr val="F1F4F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6168" y="2032000"/>
            <a:ext cx="13066070" cy="9652124"/>
          </a:xfrm>
          <a:prstGeom prst="rect">
            <a:avLst/>
          </a:prstGeom>
        </p:spPr>
      </p:pic>
      <p:sp>
        <p:nvSpPr>
          <p:cNvPr id="3" name="Shape 0"/>
          <p:cNvSpPr/>
          <p:nvPr/>
        </p:nvSpPr>
        <p:spPr>
          <a:xfrm>
            <a:off x="23370921" y="10515600"/>
            <a:ext cx="1016127" cy="3200400"/>
          </a:xfrm>
          <a:prstGeom prst="rect">
            <a:avLst/>
          </a:prstGeom>
          <a:noFill/>
          <a:ln/>
        </p:spPr>
      </p:sp>
      <p:sp>
        <p:nvSpPr>
          <p:cNvPr id="5" name="Shape 1"/>
          <p:cNvSpPr/>
          <p:nvPr/>
        </p:nvSpPr>
        <p:spPr>
          <a:xfrm>
            <a:off x="1016127" y="3213100"/>
            <a:ext cx="12104613" cy="8267700"/>
          </a:xfrm>
          <a:prstGeom prst="roundRect">
            <a:avLst>
              <a:gd name="adj" fmla="val 15373"/>
            </a:avLst>
          </a:prstGeom>
          <a:noFill/>
          <a:ln/>
        </p:spPr>
      </p:sp>
      <p:sp>
        <p:nvSpPr>
          <p:cNvPr id="6" name="Shape 2"/>
          <p:cNvSpPr/>
          <p:nvPr/>
        </p:nvSpPr>
        <p:spPr>
          <a:xfrm>
            <a:off x="1829029" y="4025900"/>
            <a:ext cx="9297562" cy="1748185"/>
          </a:xfrm>
          <a:prstGeom prst="rect">
            <a:avLst/>
          </a:prstGeom>
          <a:solidFill>
            <a:srgbClr val="DBE2FC">
              <a:alpha val="100000"/>
            </a:srgbClr>
          </a:solidFill>
          <a:ln w="50800">
            <a:solidFill>
              <a:srgbClr val="1C0A76"/>
            </a:solidFill>
            <a:prstDash val="solid"/>
          </a:ln>
        </p:spPr>
        <p:txBody>
          <a:bodyPr/>
          <a:lstStyle/>
          <a:p>
            <a:endParaRPr lang="en-US" dirty="0"/>
          </a:p>
        </p:txBody>
      </p:sp>
      <p:sp>
        <p:nvSpPr>
          <p:cNvPr id="7" name="Text 3"/>
          <p:cNvSpPr/>
          <p:nvPr/>
        </p:nvSpPr>
        <p:spPr>
          <a:xfrm>
            <a:off x="2421769" y="4330701"/>
            <a:ext cx="8112081" cy="1209488"/>
          </a:xfrm>
          <a:prstGeom prst="rect">
            <a:avLst/>
          </a:prstGeom>
          <a:noFill/>
          <a:ln/>
        </p:spPr>
        <p:txBody>
          <a:bodyPr wrap="square" lIns="0" tIns="0" rIns="0" bIns="0" rtlCol="0" anchor="t"/>
          <a:lstStyle/>
          <a:p>
            <a:pPr algn="ctr"/>
            <a:r>
              <a:rPr lang="en-US" sz="8000" dirty="0">
                <a:solidFill>
                  <a:srgbClr val="0070C0"/>
                </a:solidFill>
                <a:latin typeface="Times New Roman" panose="02020603050405020304" pitchFamily="18" charset="0"/>
                <a:ea typeface="Rokkitt Bold" pitchFamily="34" charset="-122"/>
                <a:cs typeface="Times New Roman" panose="02020603050405020304" pitchFamily="18" charset="0"/>
              </a:rPr>
              <a:t>Thank You</a:t>
            </a:r>
            <a:endParaRPr lang="en-US" sz="8000" dirty="0">
              <a:solidFill>
                <a:srgbClr val="0070C0"/>
              </a:solidFill>
              <a:latin typeface="Times New Roman" panose="02020603050405020304" pitchFamily="18" charset="0"/>
              <a:cs typeface="Times New Roman" panose="02020603050405020304" pitchFamily="18" charset="0"/>
            </a:endParaRPr>
          </a:p>
        </p:txBody>
      </p:sp>
      <p:sp>
        <p:nvSpPr>
          <p:cNvPr id="8" name="Text 4"/>
          <p:cNvSpPr/>
          <p:nvPr/>
        </p:nvSpPr>
        <p:spPr>
          <a:xfrm>
            <a:off x="1829029" y="6830359"/>
            <a:ext cx="10614293" cy="4429312"/>
          </a:xfrm>
          <a:prstGeom prst="rect">
            <a:avLst/>
          </a:prstGeom>
          <a:noFill/>
          <a:ln/>
        </p:spPr>
        <p:txBody>
          <a:bodyPr wrap="square" lIns="0" tIns="0" rIns="0" bIns="0" rtlCol="0" anchor="t"/>
          <a:lstStyle/>
          <a:p>
            <a:pPr algn="l">
              <a:spcAft>
                <a:spcPts val="4000"/>
              </a:spcAft>
            </a:pPr>
            <a:r>
              <a:rPr lang="en-US" sz="3200" b="1" dirty="0">
                <a:solidFill>
                  <a:srgbClr val="0070C0"/>
                </a:solidFill>
                <a:latin typeface="Times New Roman" panose="02020603050405020304" pitchFamily="18" charset="0"/>
                <a:ea typeface="Rajdhani Regular" pitchFamily="34" charset="-122"/>
                <a:cs typeface="Times New Roman" panose="02020603050405020304" pitchFamily="18" charset="0"/>
              </a:rPr>
              <a:t>Overall Understanding</a:t>
            </a:r>
          </a:p>
          <a:p>
            <a:pPr algn="l">
              <a:spcAft>
                <a:spcPts val="4000"/>
              </a:spcAft>
            </a:pPr>
            <a:r>
              <a:rPr lang="en-US" sz="3200" dirty="0">
                <a:solidFill>
                  <a:srgbClr val="0070C0"/>
                </a:solidFill>
                <a:latin typeface="Times New Roman" panose="02020603050405020304" pitchFamily="18" charset="0"/>
                <a:ea typeface="Rajdhani Regular" pitchFamily="34" charset="-122"/>
                <a:cs typeface="Times New Roman" panose="02020603050405020304" pitchFamily="18" charset="0"/>
              </a:rPr>
              <a:t>	</a:t>
            </a:r>
            <a:r>
              <a:rPr lang="en-US" sz="3200" dirty="0"/>
              <a:t> </a:t>
            </a:r>
            <a:r>
              <a:rPr lang="en-US" sz="3200" dirty="0">
                <a:solidFill>
                  <a:srgbClr val="0070C0"/>
                </a:solidFill>
                <a:latin typeface="Times New Roman" panose="02020603050405020304" pitchFamily="18" charset="0"/>
                <a:cs typeface="Times New Roman" panose="02020603050405020304" pitchFamily="18" charset="0"/>
              </a:rPr>
              <a:t>All the tasks together show how the company works with its customers. These findings shows how the company performs well and whether the company is able to maintain loyal customers or attracting new ones or planning the right products for the right people, etc.</a:t>
            </a:r>
          </a:p>
        </p:txBody>
      </p:sp>
      <p:pic>
        <p:nvPicPr>
          <p:cNvPr id="10" name="Image 2" descr="preencoded.png"/>
          <p:cNvPicPr>
            <a:picLocks noChangeAspect="1"/>
          </p:cNvPicPr>
          <p:nvPr/>
        </p:nvPicPr>
        <p:blipFill>
          <a:blip r:embed="rId4"/>
          <a:stretch>
            <a:fillRect/>
          </a:stretch>
        </p:blipFill>
        <p:spPr>
          <a:xfrm>
            <a:off x="12193524" y="2032000"/>
            <a:ext cx="11353861" cy="114345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E0F6D2-A356-4F20-9AE5-D987D9178A1E}"/>
              </a:ext>
            </a:extLst>
          </p:cNvPr>
          <p:cNvSpPr txBox="1"/>
          <p:nvPr/>
        </p:nvSpPr>
        <p:spPr>
          <a:xfrm>
            <a:off x="1237129" y="878541"/>
            <a:ext cx="21443577" cy="6093976"/>
          </a:xfrm>
          <a:prstGeom prst="rect">
            <a:avLst/>
          </a:prstGeom>
          <a:noFill/>
        </p:spPr>
        <p:txBody>
          <a:bodyPr wrap="square" rtlCol="0">
            <a:spAutoFit/>
          </a:bodyPr>
          <a:lstStyle/>
          <a:p>
            <a:pPr marL="0" indent="0">
              <a:buNone/>
            </a:pPr>
            <a:r>
              <a:rPr lang="en-US" sz="5400" dirty="0">
                <a:latin typeface="Times New Roman" panose="02020603050405020304" pitchFamily="18" charset="0"/>
                <a:cs typeface="Times New Roman" panose="02020603050405020304" pitchFamily="18" charset="0"/>
              </a:rPr>
              <a:t>Project Video link : </a:t>
            </a:r>
            <a:r>
              <a:rPr lang="en-US" sz="4800" dirty="0">
                <a:latin typeface="Times New Roman" panose="02020603050405020304" pitchFamily="18" charset="0"/>
                <a:cs typeface="Times New Roman" panose="02020603050405020304" pitchFamily="18" charset="0"/>
                <a:hlinkClick r:id="rId2"/>
              </a:rPr>
              <a:t>https://www.loom.com/share/6824b66328964543a16dd2ad253b1109</a:t>
            </a:r>
            <a:endParaRPr lang="en-US" sz="4800" dirty="0">
              <a:latin typeface="Times New Roman" panose="02020603050405020304" pitchFamily="18" charset="0"/>
              <a:cs typeface="Times New Roman" panose="02020603050405020304" pitchFamily="18" charset="0"/>
            </a:endParaRPr>
          </a:p>
          <a:p>
            <a:pPr marL="0" indent="0">
              <a:buNone/>
            </a:pPr>
            <a:endParaRPr lang="en-US" sz="5400" dirty="0">
              <a:latin typeface="Times New Roman" panose="02020603050405020304" pitchFamily="18" charset="0"/>
              <a:cs typeface="Times New Roman" panose="02020603050405020304" pitchFamily="18" charset="0"/>
            </a:endParaRPr>
          </a:p>
          <a:p>
            <a:pPr marL="0" indent="0">
              <a:buNone/>
            </a:pPr>
            <a:r>
              <a:rPr lang="en-US" sz="5400" dirty="0">
                <a:latin typeface="Times New Roman" panose="02020603050405020304" pitchFamily="18" charset="0"/>
                <a:cs typeface="Times New Roman" panose="02020603050405020304" pitchFamily="18" charset="0"/>
              </a:rPr>
              <a:t>Note : </a:t>
            </a:r>
          </a:p>
          <a:p>
            <a:r>
              <a:rPr lang="en-US" sz="3200" dirty="0">
                <a:latin typeface="Times New Roman" panose="02020603050405020304" pitchFamily="18" charset="0"/>
                <a:cs typeface="Times New Roman" panose="02020603050405020304" pitchFamily="18" charset="0"/>
              </a:rPr>
              <a:t>The video was made in a little bit rush due to the free recording timing available in Loom which is exactly 5mins.</a:t>
            </a:r>
            <a:r>
              <a:rPr lang="en-US" sz="3200" kern="1200" dirty="0">
                <a:solidFill>
                  <a:srgbClr val="000000"/>
                </a:solidFill>
                <a:effectLst/>
                <a:latin typeface="Times New Roman" panose="02020603050405020304" pitchFamily="18" charset="0"/>
                <a:cs typeface="Times New Roman" panose="02020603050405020304" pitchFamily="18" charset="0"/>
              </a:rPr>
              <a:t> I request you to please consider this while evaluating the submission. Hope I have covered everything properly.</a:t>
            </a:r>
            <a:endParaRPr lang="en-US" sz="3200" dirty="0">
              <a:effectLst/>
              <a:latin typeface="Times New Roman" panose="02020603050405020304" pitchFamily="18" charset="0"/>
              <a:cs typeface="Times New Roman" panose="02020603050405020304" pitchFamily="18" charset="0"/>
            </a:endParaRPr>
          </a:p>
          <a:p>
            <a:pPr marL="0" indent="0">
              <a:buNone/>
            </a:pPr>
            <a:endParaRPr lang="en-US" sz="5400" dirty="0">
              <a:latin typeface="Times New Roman" panose="02020603050405020304" pitchFamily="18" charset="0"/>
              <a:cs typeface="Times New Roman" panose="02020603050405020304" pitchFamily="18" charset="0"/>
            </a:endParaRPr>
          </a:p>
          <a:p>
            <a:endParaRPr lang="en-US" sz="5400" dirty="0"/>
          </a:p>
        </p:txBody>
      </p:sp>
    </p:spTree>
    <p:extLst>
      <p:ext uri="{BB962C8B-B14F-4D97-AF65-F5344CB8AC3E}">
        <p14:creationId xmlns:p14="http://schemas.microsoft.com/office/powerpoint/2010/main" val="4190463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TotalTime>
  <Words>649</Words>
  <Application>Microsoft Office PowerPoint</Application>
  <PresentationFormat>Custom</PresentationFormat>
  <Paragraphs>52</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Adarsh JS</cp:lastModifiedBy>
  <cp:revision>29</cp:revision>
  <dcterms:created xsi:type="dcterms:W3CDTF">2023-05-29T03:00:44Z</dcterms:created>
  <dcterms:modified xsi:type="dcterms:W3CDTF">2025-11-03T15:48:24Z</dcterms:modified>
</cp:coreProperties>
</file>