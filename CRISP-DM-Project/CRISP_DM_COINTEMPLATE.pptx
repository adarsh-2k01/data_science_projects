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6" r:id="rId4"/>
    <p:sldId id="259" r:id="rId5"/>
    <p:sldId id="260" r:id="rId6"/>
    <p:sldId id="261" r:id="rId7"/>
    <p:sldId id="262" r:id="rId8"/>
    <p:sldId id="263" r:id="rId9"/>
    <p:sldId id="264" r:id="rId10"/>
    <p:sldId id="265" r:id="rId11"/>
    <p:sldId id="267"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152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18-Aug-25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18-Aug-25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18-Aug-25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18-Aug-25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18-Aug-25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18-Aug-25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18-Aug-25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loom.com/share/f03e36ba90484d48ba0cae543452ac86?sid=1ad1f6b8-119d-4e9b-b153-0bfb54fc047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solidFill>
                  <a:srgbClr val="0070C0"/>
                </a:solidFill>
                <a:latin typeface="Times New Roman" panose="02020603050405020304" pitchFamily="18" charset="0"/>
                <a:cs typeface="Times New Roman" panose="02020603050405020304" pitchFamily="18" charset="0"/>
              </a:rPr>
              <a:t>Course 1: Introduction to Data Analytics</a:t>
            </a:r>
          </a:p>
        </p:txBody>
      </p:sp>
      <p:sp>
        <p:nvSpPr>
          <p:cNvPr id="3" name="Subtitle 2"/>
          <p:cNvSpPr>
            <a:spLocks noGrp="1"/>
          </p:cNvSpPr>
          <p:nvPr>
            <p:ph type="subTitle" idx="1"/>
          </p:nvPr>
        </p:nvSpPr>
        <p:spPr/>
        <p:txBody>
          <a:bodyPr>
            <a:normAutofit/>
          </a:bodyPr>
          <a:lstStyle/>
          <a:p>
            <a:r>
              <a:rPr lang="en-US" sz="2800" dirty="0">
                <a:solidFill>
                  <a:srgbClr val="0070C0"/>
                </a:solidFill>
                <a:latin typeface="Times New Roman" panose="02020603050405020304" pitchFamily="18" charset="0"/>
                <a:cs typeface="Times New Roman" panose="02020603050405020304" pitchFamily="18" charset="0"/>
              </a:rPr>
              <a:t>Project Title: J P Morgan classification for legal documents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0070C0"/>
                </a:solidFill>
                <a:latin typeface="Times New Roman" panose="02020603050405020304" pitchFamily="18" charset="0"/>
                <a:cs typeface="Times New Roman" panose="02020603050405020304" pitchFamily="18" charset="0"/>
              </a:rPr>
              <a:t>Introduction</a:t>
            </a:r>
            <a:endParaRPr sz="3600"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J P Morgan announced it had developed and deployed new software called COIN-shorthand for Contract Intelligence that automates document review for a certain class of contracts. The software reviews in seconds for which the number of contracts that previously took lawyers over 360,000 person-hours. Apart from shortening the time it takes to review documents, COIN has also managed to help JP Morgan decrease its number of loan-servicing mistakes. It uses machine learning to recognize patterns and classify legal clauses.</a:t>
            </a:r>
          </a:p>
          <a:p>
            <a:pPr marL="0" indent="0">
              <a:buNone/>
            </a:pP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0FE64-D148-4CB3-9242-E52613D058B7}"/>
              </a:ext>
            </a:extLst>
          </p:cNvPr>
          <p:cNvSpPr>
            <a:spLocks noGrp="1"/>
          </p:cNvSpPr>
          <p:nvPr>
            <p:ph type="title"/>
          </p:nvPr>
        </p:nvSpPr>
        <p:spPr/>
        <p:txBody>
          <a:bodyPr>
            <a:noAutofit/>
          </a:bodyPr>
          <a:lstStyle/>
          <a:p>
            <a:r>
              <a:rPr lang="en-US" sz="3600" dirty="0">
                <a:solidFill>
                  <a:srgbClr val="0070C0"/>
                </a:solidFill>
                <a:latin typeface="Times New Roman" panose="02020603050405020304" pitchFamily="18" charset="0"/>
                <a:cs typeface="Times New Roman" panose="02020603050405020304" pitchFamily="18" charset="0"/>
              </a:rPr>
              <a:t>CRISP-DM Methodology for Legal Document Classification</a:t>
            </a:r>
          </a:p>
        </p:txBody>
      </p:sp>
      <p:sp>
        <p:nvSpPr>
          <p:cNvPr id="3" name="Content Placeholder 2">
            <a:extLst>
              <a:ext uri="{FF2B5EF4-FFF2-40B4-BE49-F238E27FC236}">
                <a16:creationId xmlns:a16="http://schemas.microsoft.com/office/drawing/2014/main" id="{EED38A0A-5F7C-4296-9BF1-6597D39688B6}"/>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Business Understanding</a:t>
            </a:r>
          </a:p>
          <a:p>
            <a:r>
              <a:rPr lang="en-US" sz="2400" dirty="0">
                <a:latin typeface="Times New Roman" panose="02020603050405020304" pitchFamily="18" charset="0"/>
                <a:cs typeface="Times New Roman" panose="02020603050405020304" pitchFamily="18" charset="0"/>
              </a:rPr>
              <a:t>Data Understanding</a:t>
            </a:r>
          </a:p>
          <a:p>
            <a:r>
              <a:rPr lang="en-US" sz="2400" dirty="0">
                <a:latin typeface="Times New Roman" panose="02020603050405020304" pitchFamily="18" charset="0"/>
                <a:cs typeface="Times New Roman" panose="02020603050405020304" pitchFamily="18" charset="0"/>
              </a:rPr>
              <a:t>Data Preparation</a:t>
            </a:r>
          </a:p>
          <a:p>
            <a:r>
              <a:rPr lang="en-US" sz="2400" dirty="0">
                <a:latin typeface="Times New Roman" panose="02020603050405020304" pitchFamily="18" charset="0"/>
                <a:cs typeface="Times New Roman" panose="02020603050405020304" pitchFamily="18" charset="0"/>
              </a:rPr>
              <a:t>Modeling</a:t>
            </a:r>
          </a:p>
          <a:p>
            <a:r>
              <a:rPr lang="en-US" sz="2400" dirty="0">
                <a:latin typeface="Times New Roman" panose="02020603050405020304" pitchFamily="18" charset="0"/>
                <a:cs typeface="Times New Roman" panose="02020603050405020304" pitchFamily="18" charset="0"/>
              </a:rPr>
              <a:t>Evaluation</a:t>
            </a:r>
          </a:p>
          <a:p>
            <a:r>
              <a:rPr lang="en-US" sz="2400" dirty="0">
                <a:latin typeface="Times New Roman" panose="02020603050405020304" pitchFamily="18" charset="0"/>
                <a:cs typeface="Times New Roman" panose="02020603050405020304" pitchFamily="18" charset="0"/>
              </a:rPr>
              <a:t>Deployment</a:t>
            </a:r>
          </a:p>
        </p:txBody>
      </p:sp>
    </p:spTree>
    <p:extLst>
      <p:ext uri="{BB962C8B-B14F-4D97-AF65-F5344CB8AC3E}">
        <p14:creationId xmlns:p14="http://schemas.microsoft.com/office/powerpoint/2010/main" val="3847985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solidFill>
                  <a:srgbClr val="0070C0"/>
                </a:solidFill>
                <a:latin typeface="Times New Roman" panose="02020603050405020304" pitchFamily="18" charset="0"/>
                <a:cs typeface="Times New Roman" panose="02020603050405020304" pitchFamily="18" charset="0"/>
              </a:rPr>
              <a:t>Business Understanding</a:t>
            </a:r>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This phase focuses on objectives and understanding of project from business perspective.</a:t>
            </a:r>
          </a:p>
          <a:p>
            <a:pPr marL="0" indent="0">
              <a:buNone/>
            </a:pPr>
            <a:r>
              <a:rPr lang="en-US" sz="2400" dirty="0">
                <a:latin typeface="Times New Roman" panose="02020603050405020304" pitchFamily="18" charset="0"/>
                <a:cs typeface="Times New Roman" panose="02020603050405020304" pitchFamily="18" charset="0"/>
              </a:rPr>
              <a:t>I.e. Legal department receive a large number of documents every day, which may include contracts, notices, agreements, policy documents, etc.</a:t>
            </a:r>
          </a:p>
          <a:p>
            <a:pPr marL="0" indent="0">
              <a:buNone/>
            </a:pPr>
            <a:r>
              <a:rPr lang="en-US" sz="2400" dirty="0">
                <a:latin typeface="Times New Roman" panose="02020603050405020304" pitchFamily="18" charset="0"/>
                <a:cs typeface="Times New Roman" panose="02020603050405020304" pitchFamily="18" charset="0"/>
              </a:rPr>
              <a:t>Normally humans have to read each document and then decide what type of document it is. This takes a lot of time specifically if the documents are too long.</a:t>
            </a:r>
          </a:p>
          <a:p>
            <a:pPr marL="0" indent="0">
              <a:buNone/>
            </a:pPr>
            <a:r>
              <a:rPr lang="en-US" sz="2400" dirty="0">
                <a:latin typeface="Times New Roman" panose="02020603050405020304" pitchFamily="18" charset="0"/>
                <a:cs typeface="Times New Roman" panose="02020603050405020304" pitchFamily="18" charset="0"/>
              </a:rPr>
              <a:t>The objective of business understanding in Data science is to understand the problem, to save time and improve accuracy in classifying these documents.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solidFill>
                  <a:srgbClr val="0070C0"/>
                </a:solidFill>
                <a:latin typeface="Times New Roman" panose="02020603050405020304" pitchFamily="18" charset="0"/>
                <a:cs typeface="Times New Roman" panose="02020603050405020304" pitchFamily="18" charset="0"/>
              </a:rPr>
              <a:t>Data Understanding</a:t>
            </a:r>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In this phase data scientist begins the initial data collection.</a:t>
            </a:r>
          </a:p>
          <a:p>
            <a:pPr marL="0" indent="0">
              <a:buNone/>
            </a:pPr>
            <a:r>
              <a:rPr lang="en-US" sz="2400" dirty="0">
                <a:latin typeface="Times New Roman" panose="02020603050405020304" pitchFamily="18" charset="0"/>
                <a:cs typeface="Times New Roman" panose="02020603050405020304" pitchFamily="18" charset="0"/>
              </a:rPr>
              <a:t>Since legal department works with legal documents, we will first need to identify the different types of documents involved.</a:t>
            </a:r>
          </a:p>
          <a:p>
            <a:pPr marL="0" indent="0">
              <a:buNone/>
            </a:pPr>
            <a:r>
              <a:rPr lang="en-US" sz="2400" dirty="0">
                <a:latin typeface="Times New Roman" panose="02020603050405020304" pitchFamily="18" charset="0"/>
                <a:cs typeface="Times New Roman" panose="02020603050405020304" pitchFamily="18" charset="0"/>
              </a:rPr>
              <a:t>The documents may involve contracts, agreements, legal notice, etc.</a:t>
            </a:r>
          </a:p>
          <a:p>
            <a:pPr marL="0" indent="0">
              <a:buNone/>
            </a:pPr>
            <a:r>
              <a:rPr lang="en-US" sz="2400" dirty="0">
                <a:latin typeface="Times New Roman" panose="02020603050405020304" pitchFamily="18" charset="0"/>
                <a:cs typeface="Times New Roman" panose="02020603050405020304" pitchFamily="18" charset="0"/>
              </a:rPr>
              <a:t>File type, length of document, language used, etc. will  be explored.</a:t>
            </a:r>
          </a:p>
          <a:p>
            <a:pPr marL="0" indent="0">
              <a:buNone/>
            </a:pPr>
            <a:r>
              <a:rPr lang="en-US" sz="2400" dirty="0">
                <a:latin typeface="Times New Roman" panose="02020603050405020304" pitchFamily="18" charset="0"/>
                <a:cs typeface="Times New Roman" panose="02020603050405020304" pitchFamily="18" charset="0"/>
              </a:rPr>
              <a:t>By analyzing data a clear picture of data can be understood deeply and can be used for next process.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solidFill>
                  <a:srgbClr val="0070C0"/>
                </a:solidFill>
                <a:latin typeface="Times New Roman" panose="02020603050405020304" pitchFamily="18" charset="0"/>
                <a:cs typeface="Times New Roman" panose="02020603050405020304" pitchFamily="18" charset="0"/>
              </a:rPr>
              <a:t>Data Preparation</a:t>
            </a:r>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This phase includes data cleaning and turning raw data into suitable format.</a:t>
            </a:r>
          </a:p>
          <a:p>
            <a:pPr marL="0" indent="0">
              <a:buNone/>
            </a:pPr>
            <a:r>
              <a:rPr lang="en-US" sz="2400" dirty="0">
                <a:latin typeface="Times New Roman" panose="02020603050405020304" pitchFamily="18" charset="0"/>
                <a:cs typeface="Times New Roman" panose="02020603050405020304" pitchFamily="18" charset="0"/>
              </a:rPr>
              <a:t>So it includes removing unnecessary symbols, numbers, then changing files like PDF’s, scanned images, and so on into plain text.</a:t>
            </a:r>
          </a:p>
          <a:p>
            <a:pPr marL="0" indent="0">
              <a:buNone/>
            </a:pPr>
            <a:r>
              <a:rPr lang="en-US" sz="2400" dirty="0">
                <a:latin typeface="Times New Roman" panose="02020603050405020304" pitchFamily="18" charset="0"/>
                <a:cs typeface="Times New Roman" panose="02020603050405020304" pitchFamily="18" charset="0"/>
              </a:rPr>
              <a:t>Data preparation will clean and the change </a:t>
            </a:r>
            <a:r>
              <a:rPr lang="en-US" sz="2400">
                <a:latin typeface="Times New Roman" panose="02020603050405020304" pitchFamily="18" charset="0"/>
                <a:cs typeface="Times New Roman" panose="02020603050405020304" pitchFamily="18" charset="0"/>
              </a:rPr>
              <a:t>every file to </a:t>
            </a:r>
            <a:r>
              <a:rPr lang="en-US" sz="2400" dirty="0">
                <a:latin typeface="Times New Roman" panose="02020603050405020304" pitchFamily="18" charset="0"/>
                <a:cs typeface="Times New Roman" panose="02020603050405020304" pitchFamily="18" charset="0"/>
              </a:rPr>
              <a:t>same format and then to numerical form so machine can understand it.</a:t>
            </a:r>
          </a:p>
          <a:p>
            <a:pPr marL="0" indent="0">
              <a:buNone/>
            </a:pPr>
            <a:r>
              <a:rPr lang="en-US" sz="2400" dirty="0">
                <a:latin typeface="Times New Roman" panose="02020603050405020304" pitchFamily="18" charset="0"/>
                <a:cs typeface="Times New Roman" panose="02020603050405020304" pitchFamily="18" charset="0"/>
              </a:rPr>
              <a:t>So this machine understandable data will be used for training purpose, which is the next process.</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dirty="0">
                <a:solidFill>
                  <a:srgbClr val="0070C0"/>
                </a:solidFill>
                <a:latin typeface="Times New Roman" panose="02020603050405020304" pitchFamily="18" charset="0"/>
                <a:cs typeface="Times New Roman" panose="02020603050405020304" pitchFamily="18" charset="0"/>
              </a:rPr>
              <a:t>Modeling</a:t>
            </a:r>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With clean data in hand, various modeling techniques can be done such as designing tests, building the model, assessing the model, etc.</a:t>
            </a:r>
          </a:p>
          <a:p>
            <a:pPr marL="0" indent="0">
              <a:buNone/>
            </a:pPr>
            <a:r>
              <a:rPr lang="en-US" sz="2400" dirty="0">
                <a:latin typeface="Times New Roman" panose="02020603050405020304" pitchFamily="18" charset="0"/>
                <a:cs typeface="Times New Roman" panose="02020603050405020304" pitchFamily="18" charset="0"/>
              </a:rPr>
              <a:t>Since we have clean data, we can train the model using machine learning and deep learning.</a:t>
            </a:r>
          </a:p>
          <a:p>
            <a:pPr marL="0" indent="0">
              <a:buNone/>
            </a:pPr>
            <a:r>
              <a:rPr lang="en-US" sz="2400" dirty="0">
                <a:latin typeface="Times New Roman" panose="02020603050405020304" pitchFamily="18" charset="0"/>
                <a:cs typeface="Times New Roman" panose="02020603050405020304" pitchFamily="18" charset="0"/>
              </a:rPr>
              <a:t>After training the model, it will learn patterns and predict what type of legal document it is.</a:t>
            </a:r>
          </a:p>
          <a:p>
            <a:pPr marL="0" indent="0">
              <a:buNone/>
            </a:pPr>
            <a:r>
              <a:rPr lang="en-US" sz="2400" dirty="0">
                <a:latin typeface="Times New Roman" panose="02020603050405020304" pitchFamily="18" charset="0"/>
                <a:cs typeface="Times New Roman" panose="02020603050405020304" pitchFamily="18" charset="0"/>
              </a:rPr>
              <a:t>Hence it will predict automatically using raw and already trained data to improve accuracy.</a:t>
            </a:r>
          </a:p>
          <a:p>
            <a:pPr marL="0" indent="0">
              <a:buNone/>
            </a:pP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dirty="0">
                <a:solidFill>
                  <a:srgbClr val="0070C0"/>
                </a:solidFill>
                <a:latin typeface="Times New Roman" panose="02020603050405020304" pitchFamily="18" charset="0"/>
                <a:cs typeface="Times New Roman" panose="02020603050405020304" pitchFamily="18" charset="0"/>
              </a:rPr>
              <a:t>Evaluation</a:t>
            </a:r>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Before deployment, the model’s performance is evaluated using results.</a:t>
            </a:r>
          </a:p>
          <a:p>
            <a:pPr marL="0" indent="0">
              <a:buNone/>
            </a:pPr>
            <a:r>
              <a:rPr lang="en-US" sz="2400" dirty="0">
                <a:latin typeface="Times New Roman" panose="02020603050405020304" pitchFamily="18" charset="0"/>
                <a:cs typeface="Times New Roman" panose="02020603050405020304" pitchFamily="18" charset="0"/>
              </a:rPr>
              <a:t>Here, training and testing will be done to check the performance of current model.</a:t>
            </a:r>
          </a:p>
          <a:p>
            <a:pPr marL="0" indent="0">
              <a:buNone/>
            </a:pPr>
            <a:r>
              <a:rPr lang="en-US" sz="2400" dirty="0">
                <a:latin typeface="Times New Roman" panose="02020603050405020304" pitchFamily="18" charset="0"/>
                <a:cs typeface="Times New Roman" panose="02020603050405020304" pitchFamily="18" charset="0"/>
              </a:rPr>
              <a:t>Data accuracy and precision will be calculated based on performance.</a:t>
            </a:r>
          </a:p>
          <a:p>
            <a:pPr marL="0" indent="0">
              <a:buNone/>
            </a:pPr>
            <a:r>
              <a:rPr lang="en-US" sz="2400" dirty="0">
                <a:latin typeface="Times New Roman" panose="02020603050405020304" pitchFamily="18" charset="0"/>
                <a:cs typeface="Times New Roman" panose="02020603050405020304" pitchFamily="18" charset="0"/>
              </a:rPr>
              <a:t>If not performing as expected previous process will be done again like cleaning data better and also collect more documents to train better.</a:t>
            </a:r>
          </a:p>
          <a:p>
            <a:pPr marL="0" indent="0">
              <a:buNone/>
            </a:pPr>
            <a:r>
              <a:rPr lang="en-US" sz="2400" dirty="0">
                <a:latin typeface="Times New Roman" panose="02020603050405020304" pitchFamily="18" charset="0"/>
                <a:cs typeface="Times New Roman" panose="02020603050405020304" pitchFamily="18" charset="0"/>
              </a:rPr>
              <a:t>If it is performing as expected then will be continued to next process.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dirty="0">
                <a:solidFill>
                  <a:srgbClr val="0070C0"/>
                </a:solidFill>
                <a:latin typeface="Times New Roman" panose="02020603050405020304" pitchFamily="18" charset="0"/>
                <a:cs typeface="Times New Roman" panose="02020603050405020304" pitchFamily="18" charset="0"/>
              </a:rPr>
              <a:t>Deployment</a:t>
            </a:r>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final phase involves deploying the model for real-world application.</a:t>
            </a:r>
          </a:p>
          <a:p>
            <a:pPr marL="0" indent="0">
              <a:buNone/>
            </a:pPr>
            <a:r>
              <a:rPr lang="en-US" sz="2400" dirty="0">
                <a:latin typeface="Times New Roman" panose="02020603050405020304" pitchFamily="18" charset="0"/>
                <a:cs typeface="Times New Roman" panose="02020603050405020304" pitchFamily="18" charset="0"/>
              </a:rPr>
              <a:t>Once deployed it can be used by clients for classifying legal document quickly for better work flow and for faster decision making.</a:t>
            </a:r>
          </a:p>
          <a:p>
            <a:pPr marL="0" indent="0">
              <a:buNone/>
            </a:pPr>
            <a:r>
              <a:rPr lang="en-US" sz="2400" dirty="0">
                <a:latin typeface="Times New Roman" panose="02020603050405020304" pitchFamily="18" charset="0"/>
                <a:cs typeface="Times New Roman" panose="02020603050405020304" pitchFamily="18" charset="0"/>
              </a:rPr>
              <a:t>Model’s performance will be tracked frequently and maintenance will be done, like training the model with new legal document with updated data format for accuracy and adapt to changes that occur in legal document frequently.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solidFill>
                  <a:srgbClr val="0070C0"/>
                </a:solidFill>
                <a:latin typeface="Times New Roman" panose="02020603050405020304" pitchFamily="18" charset="0"/>
                <a:cs typeface="Times New Roman" panose="02020603050405020304" pitchFamily="18" charset="0"/>
              </a:rPr>
              <a:t>Summary</a:t>
            </a:r>
          </a:p>
        </p:txBody>
      </p:sp>
      <p:sp>
        <p:nvSpPr>
          <p:cNvPr id="3" name="Content Placeholder 2"/>
          <p:cNvSpPr>
            <a:spLocks noGrp="1"/>
          </p:cNvSpPr>
          <p:nvPr>
            <p:ph idx="1"/>
          </p:nvPr>
        </p:nvSpPr>
        <p:spPr/>
        <p:txBody>
          <a:bodyPr>
            <a:normAutofit/>
          </a:bodyPr>
          <a:lstStyle/>
          <a:p>
            <a:pPr marL="0" indent="0">
              <a:buNone/>
            </a:pPr>
            <a:r>
              <a:rPr sz="2400" dirty="0">
                <a:latin typeface="Times New Roman" panose="02020603050405020304" pitchFamily="18" charset="0"/>
                <a:cs typeface="Times New Roman" panose="02020603050405020304" pitchFamily="18" charset="0"/>
              </a:rPr>
              <a:t>CRISP-DM helps break down data science problems into </a:t>
            </a:r>
            <a:r>
              <a:rPr lang="en-US" sz="2400" dirty="0">
                <a:latin typeface="Times New Roman" panose="02020603050405020304" pitchFamily="18" charset="0"/>
                <a:cs typeface="Times New Roman" panose="02020603050405020304" pitchFamily="18" charset="0"/>
              </a:rPr>
              <a:t>smaller problems or</a:t>
            </a:r>
            <a:r>
              <a:rPr sz="2400" dirty="0">
                <a:latin typeface="Times New Roman" panose="02020603050405020304" pitchFamily="18" charset="0"/>
                <a:cs typeface="Times New Roman" panose="02020603050405020304" pitchFamily="18" charset="0"/>
              </a:rPr>
              <a:t> steps.</a:t>
            </a:r>
          </a:p>
          <a:p>
            <a:pPr marL="0" indent="0">
              <a:buNone/>
            </a:pPr>
            <a:r>
              <a:rPr sz="2400" dirty="0">
                <a:latin typeface="Times New Roman" panose="02020603050405020304" pitchFamily="18" charset="0"/>
                <a:cs typeface="Times New Roman" panose="02020603050405020304" pitchFamily="18" charset="0"/>
              </a:rPr>
              <a:t>J.P. Morgan used this method to build COIN, which </a:t>
            </a:r>
            <a:r>
              <a:rPr lang="en-US" sz="2400" dirty="0">
                <a:latin typeface="Times New Roman" panose="02020603050405020304" pitchFamily="18" charset="0"/>
                <a:cs typeface="Times New Roman" panose="02020603050405020304" pitchFamily="18" charset="0"/>
              </a:rPr>
              <a:t>is used for legal document review and analysis to save time instead of checking thousands of documents manually.</a:t>
            </a:r>
            <a:endParaRPr sz="2400" dirty="0">
              <a:latin typeface="Times New Roman" panose="02020603050405020304" pitchFamily="18" charset="0"/>
              <a:cs typeface="Times New Roman" panose="02020603050405020304" pitchFamily="18" charset="0"/>
            </a:endParaRPr>
          </a:p>
          <a:p>
            <a:pPr marL="0" indent="0">
              <a:buNone/>
            </a:pPr>
            <a:r>
              <a:rPr sz="2400" dirty="0">
                <a:latin typeface="Times New Roman" panose="02020603050405020304" pitchFamily="18" charset="0"/>
                <a:cs typeface="Times New Roman" panose="02020603050405020304" pitchFamily="18" charset="0"/>
              </a:rPr>
              <a:t>It shows how data and AI can solve real-world problems efficiently</a:t>
            </a:r>
            <a:r>
              <a:rPr lang="en-US" sz="2400" dirty="0">
                <a:latin typeface="Times New Roman" panose="02020603050405020304" pitchFamily="18" charset="0"/>
                <a:cs typeface="Times New Roman" panose="02020603050405020304" pitchFamily="18" charset="0"/>
              </a:rPr>
              <a:t> using data analysis and machine learning</a:t>
            </a:r>
            <a:r>
              <a:rPr sz="2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364CF-A998-4D09-B51E-B02BABB6F734}"/>
              </a:ext>
            </a:extLst>
          </p:cNvPr>
          <p:cNvSpPr>
            <a:spLocks noGrp="1"/>
          </p:cNvSpPr>
          <p:nvPr>
            <p:ph type="title"/>
          </p:nvPr>
        </p:nvSpPr>
        <p:spPr/>
        <p:txBody>
          <a:bodyPr>
            <a:normAutofit fontScale="90000"/>
          </a:bodyPr>
          <a:lstStyle/>
          <a:p>
            <a:r>
              <a:rPr lang="en-US" dirty="0">
                <a:solidFill>
                  <a:srgbClr val="00B0F0"/>
                </a:solidFill>
                <a:latin typeface="Times New Roman" panose="02020603050405020304" pitchFamily="18" charset="0"/>
                <a:cs typeface="Times New Roman" panose="02020603050405020304" pitchFamily="18" charset="0"/>
              </a:rPr>
              <a:t>THANK</a:t>
            </a:r>
            <a:r>
              <a:rPr lang="en-US" dirty="0">
                <a:solidFill>
                  <a:srgbClr val="00B0F0"/>
                </a:solidFill>
              </a:rPr>
              <a:t> YOU</a:t>
            </a:r>
            <a:br>
              <a:rPr lang="en-US" dirty="0">
                <a:solidFill>
                  <a:srgbClr val="00B0F0"/>
                </a:solidFill>
              </a:rPr>
            </a:br>
            <a:endParaRPr lang="en-US" dirty="0">
              <a:solidFill>
                <a:srgbClr val="00B0F0"/>
              </a:solidFill>
            </a:endParaRPr>
          </a:p>
        </p:txBody>
      </p:sp>
      <p:sp>
        <p:nvSpPr>
          <p:cNvPr id="3" name="Content Placeholder 2">
            <a:extLst>
              <a:ext uri="{FF2B5EF4-FFF2-40B4-BE49-F238E27FC236}">
                <a16:creationId xmlns:a16="http://schemas.microsoft.com/office/drawing/2014/main" id="{60081215-5500-4B6A-998A-ED14F3885343}"/>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Project Video link : </a:t>
            </a:r>
            <a:r>
              <a:rPr lang="en-US" sz="2400" dirty="0">
                <a:latin typeface="Times New Roman" panose="02020603050405020304" pitchFamily="18" charset="0"/>
                <a:cs typeface="Times New Roman" panose="02020603050405020304" pitchFamily="18" charset="0"/>
                <a:hlinkClick r:id="rId2"/>
              </a:rPr>
              <a:t>https://www.loom.com/share/f03e36ba90484d48ba0cae543452ac86?sid=1ad1f6b8-119d-4e9b-b153-0bfb54fc0470</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Note : </a:t>
            </a:r>
          </a:p>
          <a:p>
            <a:pPr marL="0" indent="0">
              <a:buNone/>
            </a:pPr>
            <a:r>
              <a:rPr lang="en-US" sz="1600" dirty="0">
                <a:latin typeface="Times New Roman" panose="02020603050405020304" pitchFamily="18" charset="0"/>
                <a:cs typeface="Times New Roman" panose="02020603050405020304" pitchFamily="18" charset="0"/>
              </a:rPr>
              <a:t>Due to technical issues with Loom, the video has slight audio-video sync delay</a:t>
            </a:r>
            <a:r>
              <a:rPr lang="en-US" sz="2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I request you to please consider this while evaluating the submission.</a:t>
            </a:r>
          </a:p>
        </p:txBody>
      </p:sp>
    </p:spTree>
    <p:extLst>
      <p:ext uri="{BB962C8B-B14F-4D97-AF65-F5344CB8AC3E}">
        <p14:creationId xmlns:p14="http://schemas.microsoft.com/office/powerpoint/2010/main" val="20021083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998</TotalTime>
  <Words>725</Words>
  <Application>Microsoft Office PowerPoint</Application>
  <PresentationFormat>On-screen Show (4:3)</PresentationFormat>
  <Paragraphs>51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Course 1: Introduction to Data Analytics</vt:lpstr>
      <vt:lpstr>Introduction</vt:lpstr>
      <vt:lpstr>CRISP-DM Methodology for Legal Document Classification</vt:lpstr>
      <vt:lpstr>Business Understanding</vt:lpstr>
      <vt:lpstr>Data Understanding</vt:lpstr>
      <vt:lpstr>Data Preparation</vt:lpstr>
      <vt:lpstr>Modeling</vt:lpstr>
      <vt:lpstr>Evaluation</vt:lpstr>
      <vt:lpstr>Deployment</vt:lpstr>
      <vt:lpstr>Summary</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1: Introduction to Data Analytics</dc:title>
  <dc:subject/>
  <dc:creator>Adarsh JS</dc:creator>
  <cp:keywords/>
  <dc:description>generated using python-pptx</dc:description>
  <cp:lastModifiedBy>Adarsh JS</cp:lastModifiedBy>
  <cp:revision>23</cp:revision>
  <dcterms:created xsi:type="dcterms:W3CDTF">2013-01-27T09:14:16Z</dcterms:created>
  <dcterms:modified xsi:type="dcterms:W3CDTF">2025-08-18T17:21:54Z</dcterms:modified>
  <cp:category/>
</cp:coreProperties>
</file>